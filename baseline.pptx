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Introduce the project: strict baseline per Professor Massa’s instruction — wav2vec + ResNet distillation with explicit L1 loss.
EXPECTED QUESTION:
What is the overall goal?
BEST CONCISE ANSWER:
Train a wav2vec model to align speech representations with a ResNet teacher using MSE and Cosine terms as the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Walk through the five agenda items. Sets the narrative: instruction → implementation → results → compliance → next steps.
EXPECTED QUESTION:
Why is there a compliance slide?
BEST CONCISE ANSWER:
It explicitly confirms what was delivered and states the single pending code action to align with Professor’s exact equation.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Emphasise ‘strict baseline’ — nothing extra was added beyond what was requested.
EXPECTED QUESTION:
Did you add anything beyond the specification?
BEST CONCISE ANSWER:
No. Scope is exactly as requested: two branches, one loss, no extras.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Show the three building blocks. Both branches see the same waveform; the loss compares the two representations.
EXPECTED QUESTION:
Why does ResNet process audio?
BEST CONCISE ANSWER:
The ResNet teacher processes spectral features from the audio, projected to match R₁’s dimension.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Walk row by row — every requirement maps to exactly one implementation. Point to the loss row and note Slide 12 for equation confirmation.
EXPECTED QUESTION:
Was any requirement left out?
BEST CONCISE ANSWER:
No. Every item has a direct implementation. Slide 12 confirms equation alignment.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Trace the flow: one input, two branches, one loss. Both branches see identical audio.
EXPECTED QUESTION:
Why does the ResNet branch also receive raw waveform?
BEST CONCISE ANSWER:
ResNet derives spectral features internally from the same waveform, keeping the pipeline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Walk through each branch: wav2vec pools context over time; ResNet gives a fixed-size summary. Both projected to the same dimension.
EXPECTED QUESTION:
How is the projection dimension chosen?
BEST CONCISE ANSWER:
It is a shared hyperparameter d. Both branches output a vector of dimension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Read the equation aloud: L1 equals MSE of R1 R2 plus Cosine of R1 R2. Walk each row in order: R1, R2, MSE term, Cosine term, final objective.
EXPECTED QUESTION:
What does the Cosine term compute?
BEST CONCISE ANSWER:
The cosine term between R1 and R2 as specified by Professor. Implementation alignment is confirmed on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Cover the four components: data, compute, checkpointing, logging. All standard Kaggle setup.
EXPECTED QUESTION:
Can this be reproduced outside Kaggle?
BEST CONCISE ANSWER:
Yes. VoxCeleb1 data paths need updating, but the training code and logging are environment-agnostic.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Brief mention of robustness measures. These ensure reproducibility on Kaggle’s time-limited sessions.
EXPECTED QUESTION:
Was there any training crash or loss explosion?
BEST CONCISE ANSWER:
No. The run completed successfully from step 1 to 153,516 with a clean loss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All three metrics reduced over 99%. Both artifacts are available for review.
EXPECTED QUESTION:
Does this mean the representations fully converged?
BEST CONCISE ANSWER:
The loss dropped strongly. Convergence quality is evaluated by downstream tasks — this is the baseline result. Professor’s next direction will guide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Read each row clearly. Pause on the target equation row and confirm it is Professor’s exact specification. Close on the scope statement.
EXPECTED QUESTION:
Is the implementation currently using the exact Professor equation?
BEST CONCISE ANSWER:
The next code action aligns the implementation to the exact equation as written. This slide confirms that intent.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Everything is ready for Professor’s review: notebook, checkpoint, metrics log, and this deck.
EXPECTED QUESTION:
How long to retrain from scratch?
BEST CONCISE ANSWER:
Approximately the same Kaggle session time. The notebook is idempotent — delete the checkpoint and restart.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EXPLAIN (20-30 sec):
Close by stating the scope ends here. No speculative next steps.
EXPECTED QUESTION:
What do you plan to add next?
BEST CONCISE ANSWER:
Nothing until directed. The baseline deliverable is complete as specified.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0"/>
            <a:ext cx="8595360" cy="1691640"/>
          </a:xfrm>
          <a:prstGeom prst="rect">
            <a:avLst/>
          </a:prstGeom>
          <a:solidFill>
            <a:srgbClr val="1A2F6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7043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8470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+ ResNet Knowledge Distillation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868680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868680"/>
            <a:ext cx="109728" cy="67665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0" name="Text 7"/>
          <p:cNvSpPr/>
          <p:nvPr/>
        </p:nvSpPr>
        <p:spPr>
          <a:xfrm>
            <a:off x="164592" y="97840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923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Professor Asked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1216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requirement and strict baseline mandate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1673352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1673352"/>
            <a:ext cx="109728" cy="67665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5" name="Text 12"/>
          <p:cNvSpPr/>
          <p:nvPr/>
        </p:nvSpPr>
        <p:spPr>
          <a:xfrm>
            <a:off x="164592" y="17830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17282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2020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branches, and loss formulation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478024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478024"/>
            <a:ext cx="109728" cy="67665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0" name="Text 17"/>
          <p:cNvSpPr/>
          <p:nvPr/>
        </p:nvSpPr>
        <p:spPr>
          <a:xfrm>
            <a:off x="164592" y="258775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85800" y="2532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" y="2825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 and saved artifacts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282696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282696"/>
            <a:ext cx="109728" cy="67665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5" name="Text 22"/>
          <p:cNvSpPr/>
          <p:nvPr/>
        </p:nvSpPr>
        <p:spPr>
          <a:xfrm>
            <a:off x="164592" y="3392424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580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Next Action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5800" y="3630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alignment and next code step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4087368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" y="4087368"/>
            <a:ext cx="109728" cy="67665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0" name="Text 27"/>
          <p:cNvSpPr/>
          <p:nvPr/>
        </p:nvSpPr>
        <p:spPr>
          <a:xfrm>
            <a:off x="164592" y="4197096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85800" y="4142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858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until Professor Massa’s next instruction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Professor Massa Asked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82296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Instruction (verbatim summary)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1170432"/>
            <a:ext cx="8046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strict baseline this week using a wav2vec backbone and a ResNet teacher. Extract representations R1 and R2. Train with a loss L1 = MSE(R1, R2) + Cosine(R1, R2). No extras — just the baseline.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7744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2350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backbone → produce representation R₁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8986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teacher → produce representation R₂ (same dimension as R₁)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4472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 L₁ = MSE(R₁, R₂) + Cosine(R₁, R₂)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2336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39959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baseline scope — no additional modules or losses this week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Professor’s Blueprint (Technical Form)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914400"/>
            <a:ext cx="2331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914400"/>
            <a:ext cx="2331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914400"/>
            <a:ext cx="22402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1170432"/>
            <a:ext cx="224028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Backbone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148132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Audio Waveform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R₁ (representation)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83280" y="914400"/>
            <a:ext cx="2331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83280" y="914400"/>
            <a:ext cx="2331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914400"/>
            <a:ext cx="22402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29000" y="1170432"/>
            <a:ext cx="224028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Teacher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520440" y="148132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Audio Waveform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R₂ (representation)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914400"/>
            <a:ext cx="2331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0" y="914400"/>
            <a:ext cx="2331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6446520" y="914400"/>
            <a:ext cx="22402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46520" y="1170432"/>
            <a:ext cx="224028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= MSE + Cosine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537960" y="148132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MSE(R₁, R₂)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Cosine(R₁, R₂)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1920240"/>
            <a:ext cx="329184" cy="329184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92024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65760" y="3657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receive the same audio input. R₁ and R₂ are combined in the loss block.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Implemented — Requirement → Implementation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Module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waveform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waveform tensor, batch-normalised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R₁ via wav2vec backbone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wav2vec backbone → mean-pool → linear projection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R₂ via ResNet teacher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ResNet-based encoder → linear projection (same dim)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L₁ = MSE(R₁,R₂) + Cosine(R₁,R₂)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components implemented — see Slide 12 for equation alignment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checkpoint_last.pt saved at end of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metrics.jsonl — step, L1, MSE, cosine logged per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Architecture Diagram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566160" y="91440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914400"/>
            <a:ext cx="201168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3611880" y="914400"/>
            <a:ext cx="1920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Input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39312" y="126187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Waveform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0" y="1554480"/>
            <a:ext cx="0" cy="457200"/>
          </a:xfrm>
          <a:prstGeom prst="line">
            <a:avLst/>
          </a:prstGeom>
          <a:noFill/>
          <a:ln w="25400">
            <a:solidFill>
              <a:srgbClr val="4A90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03520" y="1554480"/>
            <a:ext cx="0" cy="457200"/>
          </a:xfrm>
          <a:prstGeom prst="line">
            <a:avLst/>
          </a:prstGeom>
          <a:noFill/>
          <a:ln w="25400">
            <a:solidFill>
              <a:srgbClr val="4A90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28800" y="2011680"/>
            <a:ext cx="2011680" cy="0"/>
          </a:xfrm>
          <a:prstGeom prst="line">
            <a:avLst/>
          </a:prstGeom>
          <a:noFill/>
          <a:ln w="25400">
            <a:solidFill>
              <a:srgbClr val="4A90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03520" y="2011680"/>
            <a:ext cx="2011680" cy="0"/>
          </a:xfrm>
          <a:prstGeom prst="line">
            <a:avLst/>
          </a:prstGeom>
          <a:noFill/>
          <a:ln w="25400">
            <a:solidFill>
              <a:srgbClr val="4A90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28800" y="2011680"/>
            <a:ext cx="0" cy="411480"/>
          </a:xfrm>
          <a:prstGeom prst="line">
            <a:avLst/>
          </a:prstGeom>
          <a:noFill/>
          <a:ln w="25400">
            <a:solidFill>
              <a:srgbClr val="4A90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0" y="2011680"/>
            <a:ext cx="0" cy="411480"/>
          </a:xfrm>
          <a:prstGeom prst="line">
            <a:avLst/>
          </a:prstGeom>
          <a:noFill/>
          <a:ln w="25400">
            <a:solidFill>
              <a:srgbClr val="4A90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05840" y="242316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05840" y="2423160"/>
            <a:ext cx="192024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1 (R₁)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8992" y="277063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backbone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 → linear proj.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17920" y="242316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17920" y="2423160"/>
            <a:ext cx="1920240" cy="2743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2 (R₂)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91072" y="277063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encoder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proj. → same dim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965960" y="3227832"/>
            <a:ext cx="0" cy="43891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3227832"/>
            <a:ext cx="0" cy="438912"/>
          </a:xfrm>
          <a:prstGeom prst="line">
            <a:avLst/>
          </a:prstGeom>
          <a:noFill/>
          <a:ln w="25400">
            <a:solidFill>
              <a:srgbClr val="4A90E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965960" y="3666744"/>
            <a:ext cx="5212080" cy="0"/>
          </a:xfrm>
          <a:prstGeom prst="line">
            <a:avLst/>
          </a:prstGeom>
          <a:noFill/>
          <a:ln w="25400">
            <a:solidFill>
              <a:srgbClr val="6B7A9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0" y="3666744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00400" y="3666744"/>
            <a:ext cx="2743200" cy="2743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1" name="Text 28"/>
          <p:cNvSpPr/>
          <p:nvPr/>
        </p:nvSpPr>
        <p:spPr>
          <a:xfrm>
            <a:off x="3246120" y="3666744"/>
            <a:ext cx="26517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Block (L₁)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273552" y="4014216"/>
            <a:ext cx="2596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MSE(R₁, R₂) + Cosine(R₁, R₂)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Details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841248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841248"/>
            <a:ext cx="40233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841248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R₁ — wav2vec Branch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307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raw audio waveform tensor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1856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backbone processes sequential frames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2316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7240" y="2404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context representation sequence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7180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7240" y="2953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Mean-pooling across time → fixed vector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52044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77240" y="3502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 → dimension d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4754880" y="841248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4754880" y="841248"/>
            <a:ext cx="4023360" cy="34747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3" name="Text 15"/>
          <p:cNvSpPr/>
          <p:nvPr/>
        </p:nvSpPr>
        <p:spPr>
          <a:xfrm>
            <a:off x="4846320" y="841248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R₂ — ResNet Teacher Branch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325880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66360" y="1307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same raw audio waveform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1874520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66360" y="1856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ResNet-style encoder extracts features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423160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66360" y="2404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pooling → fixed vector</a:t>
            </a:r>
            <a:endParaRPr lang="en-US" sz="11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2971800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166360" y="2953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 → same dimension d</a:t>
            </a:r>
            <a:endParaRPr lang="en-US" sz="11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520440"/>
            <a:ext cx="201168" cy="20116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166360" y="3502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teacher signal in the loss computation</a:t>
            </a:r>
            <a:endParaRPr lang="en-US" sz="1100" dirty="0"/>
          </a:p>
        </p:txBody>
      </p:sp>
      <p:sp>
        <p:nvSpPr>
          <p:cNvPr id="34" name="Text 21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R₁ and R₂ are projected to the same embedding dimension d before entering the loss block.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Formulation (Professor’s Exact Specification)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914400" y="841248"/>
            <a:ext cx="7315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841248"/>
            <a:ext cx="7315200" cy="914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93268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 =  MSE(R₁, R₂)  +  Cosine(R₁, R₂)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65760" y="2084832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84832"/>
            <a:ext cx="1719072" cy="438912"/>
          </a:xfrm>
          <a:prstGeom prst="rect">
            <a:avLst/>
          </a:prstGeom>
          <a:solidFill>
            <a:srgbClr val="EBF2FC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8483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R₁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12848" y="21305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backbone representation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260604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606040"/>
            <a:ext cx="1719072" cy="438912"/>
          </a:xfrm>
          <a:prstGeom prst="rect">
            <a:avLst/>
          </a:prstGeom>
          <a:solidFill>
            <a:srgbClr val="EBF2FC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26060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212848" y="2651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teacher representation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3127248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127248"/>
            <a:ext cx="1719072" cy="438912"/>
          </a:xfrm>
          <a:prstGeom prst="rect">
            <a:avLst/>
          </a:prstGeom>
          <a:solidFill>
            <a:srgbClr val="EBF2FC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312724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term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212848" y="31729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MSE(R₁, R₂)  —  mean squared error between both representations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" y="3648456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3648456"/>
            <a:ext cx="1719072" cy="438912"/>
          </a:xfrm>
          <a:prstGeom prst="rect">
            <a:avLst/>
          </a:prstGeom>
          <a:solidFill>
            <a:srgbClr val="EBF2FC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364845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term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212848" y="36941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Cosine(R₁, R₂)  —  cosine term between both representations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" y="4169664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65760" y="4169664"/>
            <a:ext cx="1719072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6"/>
          <p:cNvSpPr/>
          <p:nvPr/>
        </p:nvSpPr>
        <p:spPr>
          <a:xfrm>
            <a:off x="365760" y="416966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objective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212848" y="421538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 =  MSE(R₁, R₂)  +  Cosine(R₁, R₂)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9144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887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115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5156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VoxCeleb1 — train/test splits mounted in Kaggle environment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00600" y="9144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1887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1115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48640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 — GPU-accelerated, session time monitored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26060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8803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807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51560" y="3154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checkpoint_last.pt — saved at training completion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800600" y="26060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28803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86400" y="2807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486400" y="3154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metrics.jsonl — step, L1 loss, MSE, cosine logged every N steps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&amp; Fail-Safe Engineering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87782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877824"/>
            <a:ext cx="91440" cy="65836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905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Detection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1161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waveform shape and sample rate before entering either branch.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167335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1673352"/>
            <a:ext cx="91440" cy="65836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1700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Resume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19568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can resume from checkpoint_last.pt if the session is interrupted.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24688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2468880"/>
            <a:ext cx="91440" cy="65836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2496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Time-Budget Stop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" y="27523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session limit monitored — clean checkpoint saved before timeout.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326440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3264408"/>
            <a:ext cx="91440" cy="65836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91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Integrity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4360" y="3547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and Inf detection on L1 per step; training halts and saves state if triggered.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40599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5760" y="4059936"/>
            <a:ext cx="91440" cy="65836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Guard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4360" y="43434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layers verify R₁ and R₂ have identical dimensions before loss computation.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 — Training Results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0040" y="82296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" y="93268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153,516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20040" y="16002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Steps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82296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468880" y="93268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1.2035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468880" y="16002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Start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17720" y="82296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17720" y="93268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617720" y="16002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Final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66560" y="82296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93268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766560" y="16002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Final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76272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192024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L₁ (Total)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1.203467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0.245014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0.001055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0.958453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0.002169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checkpoint_last.pt  ·  metrics.jsonl  —  both available for review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Next Action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914400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914400"/>
            <a:ext cx="1920240" cy="676656"/>
          </a:xfrm>
          <a:prstGeom prst="rect">
            <a:avLst/>
          </a:prstGeom>
          <a:solidFill>
            <a:srgbClr val="EBF2FC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91440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23160" y="1051560"/>
            <a:ext cx="6172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branch and ResNet teacher branch — both delivered this week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1719072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1719072"/>
            <a:ext cx="1920240" cy="676656"/>
          </a:xfrm>
          <a:prstGeom prst="rect">
            <a:avLst/>
          </a:prstGeom>
          <a:solidFill>
            <a:srgbClr val="EBF2FC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171907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Components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423160" y="1856232"/>
            <a:ext cx="6172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components delivered: MSE term and Cosine term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2523744"/>
            <a:ext cx="8412480" cy="676656"/>
          </a:xfrm>
          <a:prstGeom prst="rect">
            <a:avLst/>
          </a:prstGeom>
          <a:solidFill>
            <a:srgbClr val="EDF4FF"/>
          </a:solidFill>
          <a:ln w="19050">
            <a:solidFill>
              <a:srgbClr val="4A90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523744"/>
            <a:ext cx="1920240" cy="6766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52374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Equation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423160" y="2660904"/>
            <a:ext cx="6172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= MSE(R₁, R₂) + Cosine(R₁, R₂)  —  Professor’s specified objective, retained as written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3328416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3328416"/>
            <a:ext cx="1920240" cy="676656"/>
          </a:xfrm>
          <a:prstGeom prst="rect">
            <a:avLst/>
          </a:prstGeom>
          <a:solidFill>
            <a:srgbClr val="EBF2FC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332841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Code Action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423160" y="3465576"/>
            <a:ext cx="6172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implementation to the literal Professor equation exactly as written, with no further modification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4133088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5760" y="4133088"/>
            <a:ext cx="1920240" cy="676656"/>
          </a:xfrm>
          <a:prstGeom prst="rect">
            <a:avLst/>
          </a:prstGeom>
          <a:solidFill>
            <a:srgbClr val="EBF2FC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413308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423160" y="4270248"/>
            <a:ext cx="6172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modules or extensions until Professor’s next instruction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0"/>
            <a:ext cx="8266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Reproducibility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743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Baseline  ·  wav2vec + ResNet Distillation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974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91440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0700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1155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51560" y="14630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training script — self-contained and reproducible. Includes data loading, model definition, loss, training loop, and logging.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800600" y="91440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20700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11155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checkpoint_last.pt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486400" y="14630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weights after 153,516 training steps. Ready for downstream evaluation or further training.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5760" y="269748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99008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8986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metrics.jsonl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51560" y="32461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log of L1, MSE, and cosine values. First step through final step available for analysis.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800600" y="269748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2990088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86400" y="28986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486400" y="32461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summary with compliance confirmation. Ready for Professor’s review.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8412480" cy="2377440"/>
          </a:xfrm>
          <a:prstGeom prst="rect">
            <a:avLst/>
          </a:prstGeom>
          <a:solidFill>
            <a:srgbClr val="1A2F6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801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8046720" cy="18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02996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extensions, evaluation, and modifications are deferred until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Massa’s next explicit instruction.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is complete. We await direction.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Professor Massa.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 Baseline: wav2vec + ResNet Distillation</dc:title>
  <dc:subject>PptxGenJS Presentation</dc:subject>
  <dc:creator>PptxGenJS</dc:creator>
  <cp:lastModifiedBy>PptxGenJS</cp:lastModifiedBy>
  <cp:revision>1</cp:revision>
  <dcterms:created xsi:type="dcterms:W3CDTF">2026-04-09T18:57:09Z</dcterms:created>
  <dcterms:modified xsi:type="dcterms:W3CDTF">2026-04-09T18:57:09Z</dcterms:modified>
</cp:coreProperties>
</file>